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heme/theme4.xml" ContentType="application/vnd.openxmlformats-officedocument.theme+xml"/>
  <Override PartName="/ppt/notesMasters/notesMaster1.xml" ContentType="application/vnd.openxmlformats-officedocument.presentationml.notesMaster+xml"/>
  <Override PartName="/ppt/theme/theme5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735" r:id="rId35"/>
    <p:sldMasterId id="2147483736" r:id="rId37"/>
    <p:sldMasterId id="2147483737" r:id="rId39"/>
  </p:sldMasterIdLst>
  <p:notesMasterIdLst>
    <p:notesMasterId r:id="rId43"/>
  </p:notesMasterIdLst>
  <p:handoutMasterIdLst>
    <p:handoutMasterId r:id="rId41"/>
  </p:handoutMasterIdLst>
  <p:sldIdLst>
    <p:sldId id="257" r:id="rId45"/>
    <p:sldId id="258" r:id="rId46"/>
    <p:sldId id="259" r:id="rId47"/>
    <p:sldId id="260" r:id="rId48"/>
    <p:sldId id="261" r:id="rId49"/>
    <p:sldId id="262" r:id="rId50"/>
    <p:sldId id="267" r:id="rId51"/>
    <p:sldId id="263" r:id="rId52"/>
    <p:sldId id="264" r:id="rId53"/>
    <p:sldId id="265" r:id="rId54"/>
    <p:sldId id="266" r:id="rId5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35" Type="http://schemas.openxmlformats.org/officeDocument/2006/relationships/slideMaster" Target="slideMasters/slideMaster1.xml"></Relationship><Relationship Id="rId36" Type="http://schemas.openxmlformats.org/officeDocument/2006/relationships/theme" Target="theme/theme1.xml"></Relationship><Relationship Id="rId37" Type="http://schemas.openxmlformats.org/officeDocument/2006/relationships/slideMaster" Target="slideMasters/slideMaster2.xml"></Relationship><Relationship Id="rId39" Type="http://schemas.openxmlformats.org/officeDocument/2006/relationships/slideMaster" Target="slideMasters/slideMaster3.xml"></Relationship><Relationship Id="rId41" Type="http://schemas.openxmlformats.org/officeDocument/2006/relationships/handoutMaster" Target="handoutMasters/handoutMaster1.xml"></Relationship><Relationship Id="rId43" Type="http://schemas.openxmlformats.org/officeDocument/2006/relationships/notesMaster" Target="notesMasters/notesMaster1.xml"></Relationship><Relationship Id="rId45" Type="http://schemas.openxmlformats.org/officeDocument/2006/relationships/slide" Target="slides/slide1.xml"></Relationship><Relationship Id="rId46" Type="http://schemas.openxmlformats.org/officeDocument/2006/relationships/slide" Target="slides/slide2.xml"></Relationship><Relationship Id="rId47" Type="http://schemas.openxmlformats.org/officeDocument/2006/relationships/slide" Target="slides/slide3.xml"></Relationship><Relationship Id="rId48" Type="http://schemas.openxmlformats.org/officeDocument/2006/relationships/slide" Target="slides/slide4.xml"></Relationship><Relationship Id="rId49" Type="http://schemas.openxmlformats.org/officeDocument/2006/relationships/slide" Target="slides/slide5.xml"></Relationship><Relationship Id="rId50" Type="http://schemas.openxmlformats.org/officeDocument/2006/relationships/slide" Target="slides/slide6.xml"></Relationship><Relationship Id="rId51" Type="http://schemas.openxmlformats.org/officeDocument/2006/relationships/slide" Target="slides/slide7.xml"></Relationship><Relationship Id="rId52" Type="http://schemas.openxmlformats.org/officeDocument/2006/relationships/slide" Target="slides/slide8.xml"></Relationship><Relationship Id="rId53" Type="http://schemas.openxmlformats.org/officeDocument/2006/relationships/slide" Target="slides/slide9.xml"></Relationship><Relationship Id="rId54" Type="http://schemas.openxmlformats.org/officeDocument/2006/relationships/slide" Target="slides/slide10.xml"></Relationship><Relationship Id="rId55" Type="http://schemas.openxmlformats.org/officeDocument/2006/relationships/slide" Target="slides/slide11.xml"></Relationship><Relationship Id="rId57" Type="http://schemas.openxmlformats.org/officeDocument/2006/relationships/viewProps" Target="viewProps.xml"></Relationship><Relationship Id="rId58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4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5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 noChangeAspect="1"/>
          </p:cNvSpPr>
          <p:nvPr>
            <p:ph type="sldImg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3" name="Rect 0"/>
          <p:cNvSpPr txBox="1">
            <a:spLocks/>
          </p:cNvSpPr>
          <p:nvPr>
            <p:ph type="body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4" name="Rect 0"/>
          <p:cNvSpPr txBox="1">
            <a:spLocks/>
          </p:cNvSpPr>
          <p:nvPr>
            <p:ph type="sldNum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3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3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3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3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ctrTitle"/>
          </p:nvPr>
        </p:nvSpPr>
        <p:spPr>
          <a:xfrm rot="0">
            <a:off x="914400" y="1122680"/>
            <a:ext cx="10365105" cy="238950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subTitle"/>
          </p:nvPr>
        </p:nvSpPr>
        <p:spPr>
          <a:xfrm rot="0">
            <a:off x="1524000" y="3602355"/>
            <a:ext cx="9145905" cy="165735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부제목을 입력하십시오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7505" cy="132778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obj"/>
          </p:nvPr>
        </p:nvSpPr>
        <p:spPr>
          <a:xfrm rot="0">
            <a:off x="838200" y="1825625"/>
            <a:ext cx="10517505" cy="43535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1850" y="1710055"/>
            <a:ext cx="10517505" cy="285432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body"/>
          </p:nvPr>
        </p:nvSpPr>
        <p:spPr>
          <a:xfrm rot="0">
            <a:off x="831850" y="4589780"/>
            <a:ext cx="10517505" cy="1501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7505" cy="132778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obj"/>
          </p:nvPr>
        </p:nvSpPr>
        <p:spPr>
          <a:xfrm rot="0">
            <a:off x="838200" y="1825625"/>
            <a:ext cx="5183505" cy="43535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obj"/>
          </p:nvPr>
        </p:nvSpPr>
        <p:spPr>
          <a:xfrm rot="0">
            <a:off x="6172200" y="1825625"/>
            <a:ext cx="5183505" cy="43535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5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6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7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40105" y="365125"/>
            <a:ext cx="10517505" cy="132778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body"/>
          </p:nvPr>
        </p:nvSpPr>
        <p:spPr>
          <a:xfrm rot="0">
            <a:off x="840105" y="1681480"/>
            <a:ext cx="5159375" cy="82550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4" name="Rect 0"/>
          <p:cNvSpPr txBox="1">
            <a:spLocks/>
          </p:cNvSpPr>
          <p:nvPr>
            <p:ph type="obj"/>
          </p:nvPr>
        </p:nvSpPr>
        <p:spPr>
          <a:xfrm rot="0">
            <a:off x="840105" y="2505075"/>
            <a:ext cx="5159375" cy="368681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5" name="Rect 0"/>
          <p:cNvSpPr txBox="1">
            <a:spLocks/>
          </p:cNvSpPr>
          <p:nvPr>
            <p:ph type="body"/>
          </p:nvPr>
        </p:nvSpPr>
        <p:spPr>
          <a:xfrm rot="0">
            <a:off x="6172200" y="1681480"/>
            <a:ext cx="5185410" cy="82550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6" name="Rect 0"/>
          <p:cNvSpPr txBox="1">
            <a:spLocks/>
          </p:cNvSpPr>
          <p:nvPr>
            <p:ph type="obj"/>
          </p:nvPr>
        </p:nvSpPr>
        <p:spPr>
          <a:xfrm rot="0">
            <a:off x="6172200" y="2505075"/>
            <a:ext cx="5185410" cy="368681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7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8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9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7505" cy="132778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4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5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3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4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40105" y="457200"/>
            <a:ext cx="3933825" cy="160210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obj"/>
          </p:nvPr>
        </p:nvSpPr>
        <p:spPr>
          <a:xfrm rot="0">
            <a:off x="5183505" y="987425"/>
            <a:ext cx="6174105" cy="487553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body"/>
          </p:nvPr>
        </p:nvSpPr>
        <p:spPr>
          <a:xfrm rot="0">
            <a:off x="840105" y="2057400"/>
            <a:ext cx="3933825" cy="381381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5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6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7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40105" y="457200"/>
            <a:ext cx="3933825" cy="160210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 noChangeAspect="1"/>
          </p:cNvSpPr>
          <p:nvPr>
            <p:ph type="pic"/>
          </p:nvPr>
        </p:nvSpPr>
        <p:spPr>
          <a:xfrm rot="0">
            <a:off x="5183505" y="987425"/>
            <a:ext cx="6174105" cy="4875530"/>
          </a:xfrm>
          <a:prstGeom prst="rect"/>
        </p:spPr>
      </p:sp>
      <p:sp>
        <p:nvSpPr>
          <p:cNvPr id="4" name="Rect 0"/>
          <p:cNvSpPr txBox="1">
            <a:spLocks/>
          </p:cNvSpPr>
          <p:nvPr>
            <p:ph type="body"/>
          </p:nvPr>
        </p:nvSpPr>
        <p:spPr>
          <a:xfrm rot="0">
            <a:off x="840105" y="2057400"/>
            <a:ext cx="3933825" cy="381381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5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6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7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7505" cy="132778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body" orient="vert"/>
          </p:nvPr>
        </p:nvSpPr>
        <p:spPr>
          <a:xfrm rot="0">
            <a:off x="838200" y="1825625"/>
            <a:ext cx="10517505" cy="435356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 orient="vert"/>
          </p:nvPr>
        </p:nvSpPr>
        <p:spPr>
          <a:xfrm rot="0">
            <a:off x="8724900" y="365125"/>
            <a:ext cx="2630805" cy="581406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body" orient="vert"/>
          </p:nvPr>
        </p:nvSpPr>
        <p:spPr>
          <a:xfrm rot="0">
            <a:off x="838200" y="365125"/>
            <a:ext cx="7736205" cy="581406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ctrTitle"/>
          </p:nvPr>
        </p:nvSpPr>
        <p:spPr>
          <a:xfrm rot="0">
            <a:off x="914400" y="1122680"/>
            <a:ext cx="10365105" cy="238950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subTitle"/>
          </p:nvPr>
        </p:nvSpPr>
        <p:spPr>
          <a:xfrm rot="0">
            <a:off x="1524000" y="3602355"/>
            <a:ext cx="9145905" cy="165735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부제목을 입력하십시오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7505" cy="132778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obj"/>
          </p:nvPr>
        </p:nvSpPr>
        <p:spPr>
          <a:xfrm rot="0">
            <a:off x="838200" y="1825625"/>
            <a:ext cx="10517505" cy="43535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1850" y="1710055"/>
            <a:ext cx="10517505" cy="285432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body"/>
          </p:nvPr>
        </p:nvSpPr>
        <p:spPr>
          <a:xfrm rot="0">
            <a:off x="831850" y="4589780"/>
            <a:ext cx="10517505" cy="1501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7505" cy="132778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obj"/>
          </p:nvPr>
        </p:nvSpPr>
        <p:spPr>
          <a:xfrm rot="0">
            <a:off x="838200" y="1825625"/>
            <a:ext cx="5183505" cy="43535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obj"/>
          </p:nvPr>
        </p:nvSpPr>
        <p:spPr>
          <a:xfrm rot="0">
            <a:off x="6172200" y="1825625"/>
            <a:ext cx="5183505" cy="43535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5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6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7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40105" y="365125"/>
            <a:ext cx="10517505" cy="132778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body"/>
          </p:nvPr>
        </p:nvSpPr>
        <p:spPr>
          <a:xfrm rot="0">
            <a:off x="840105" y="1681480"/>
            <a:ext cx="5159375" cy="82550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4" name="Rect 0"/>
          <p:cNvSpPr txBox="1">
            <a:spLocks/>
          </p:cNvSpPr>
          <p:nvPr>
            <p:ph type="obj"/>
          </p:nvPr>
        </p:nvSpPr>
        <p:spPr>
          <a:xfrm rot="0">
            <a:off x="840105" y="2505075"/>
            <a:ext cx="5159375" cy="368681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5" name="Rect 0"/>
          <p:cNvSpPr txBox="1">
            <a:spLocks/>
          </p:cNvSpPr>
          <p:nvPr>
            <p:ph type="body"/>
          </p:nvPr>
        </p:nvSpPr>
        <p:spPr>
          <a:xfrm rot="0">
            <a:off x="6172200" y="1681480"/>
            <a:ext cx="5185410" cy="82550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6" name="Rect 0"/>
          <p:cNvSpPr txBox="1">
            <a:spLocks/>
          </p:cNvSpPr>
          <p:nvPr>
            <p:ph type="obj"/>
          </p:nvPr>
        </p:nvSpPr>
        <p:spPr>
          <a:xfrm rot="0">
            <a:off x="6172200" y="2505075"/>
            <a:ext cx="5185410" cy="368681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7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8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9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7505" cy="132778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4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5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3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4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40105" y="457200"/>
            <a:ext cx="3933825" cy="160210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obj"/>
          </p:nvPr>
        </p:nvSpPr>
        <p:spPr>
          <a:xfrm rot="0">
            <a:off x="5183505" y="987425"/>
            <a:ext cx="6174105" cy="487553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body"/>
          </p:nvPr>
        </p:nvSpPr>
        <p:spPr>
          <a:xfrm rot="0">
            <a:off x="840105" y="2057400"/>
            <a:ext cx="3933825" cy="381381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5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6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7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40105" y="457200"/>
            <a:ext cx="3933825" cy="160210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 noChangeAspect="1"/>
          </p:cNvSpPr>
          <p:nvPr>
            <p:ph type="pic"/>
          </p:nvPr>
        </p:nvSpPr>
        <p:spPr>
          <a:xfrm rot="0">
            <a:off x="5183505" y="987425"/>
            <a:ext cx="6174105" cy="4875530"/>
          </a:xfrm>
          <a:prstGeom prst="rect"/>
        </p:spPr>
      </p:sp>
      <p:sp>
        <p:nvSpPr>
          <p:cNvPr id="4" name="Rect 0"/>
          <p:cNvSpPr txBox="1">
            <a:spLocks/>
          </p:cNvSpPr>
          <p:nvPr>
            <p:ph type="body"/>
          </p:nvPr>
        </p:nvSpPr>
        <p:spPr>
          <a:xfrm rot="0">
            <a:off x="840105" y="2057400"/>
            <a:ext cx="3933825" cy="381381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</p:txBody>
      </p:sp>
      <p:sp>
        <p:nvSpPr>
          <p:cNvPr id="5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6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7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7505" cy="132778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body" orient="vert"/>
          </p:nvPr>
        </p:nvSpPr>
        <p:spPr>
          <a:xfrm rot="0">
            <a:off x="838200" y="1825625"/>
            <a:ext cx="10517505" cy="435356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 orient="vert"/>
          </p:nvPr>
        </p:nvSpPr>
        <p:spPr>
          <a:xfrm rot="0">
            <a:off x="8724900" y="365125"/>
            <a:ext cx="2630805" cy="581406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제목을 입력하십시오</a:t>
            </a:r>
          </a:p>
        </p:txBody>
      </p:sp>
      <p:sp>
        <p:nvSpPr>
          <p:cNvPr id="3" name="Rect 0"/>
          <p:cNvSpPr txBox="1">
            <a:spLocks/>
          </p:cNvSpPr>
          <p:nvPr>
            <p:ph type="body" orient="vert"/>
          </p:nvPr>
        </p:nvSpPr>
        <p:spPr>
          <a:xfrm rot="0">
            <a:off x="838200" y="365125"/>
            <a:ext cx="7736205" cy="581406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텍스트를 입력하십시오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2.xml"></Relationship><Relationship Id="rId2" Type="http://schemas.openxmlformats.org/officeDocument/2006/relationships/slideLayout" Target="../slideLayouts/slideLayout13.xml"></Relationship><Relationship Id="rId3" Type="http://schemas.openxmlformats.org/officeDocument/2006/relationships/slideLayout" Target="../slideLayouts/slideLayout14.xml"></Relationship><Relationship Id="rId4" Type="http://schemas.openxmlformats.org/officeDocument/2006/relationships/slideLayout" Target="../slideLayouts/slideLayout15.xml"></Relationship><Relationship Id="rId5" Type="http://schemas.openxmlformats.org/officeDocument/2006/relationships/slideLayout" Target="../slideLayouts/slideLayout16.xml"></Relationship><Relationship Id="rId6" Type="http://schemas.openxmlformats.org/officeDocument/2006/relationships/slideLayout" Target="../slideLayouts/slideLayout17.xml"></Relationship><Relationship Id="rId7" Type="http://schemas.openxmlformats.org/officeDocument/2006/relationships/slideLayout" Target="../slideLayouts/slideLayout18.xml"></Relationship><Relationship Id="rId8" Type="http://schemas.openxmlformats.org/officeDocument/2006/relationships/slideLayout" Target="../slideLayouts/slideLayout19.xml"></Relationship><Relationship Id="rId9" Type="http://schemas.openxmlformats.org/officeDocument/2006/relationships/slideLayout" Target="../slideLayouts/slideLayout20.xml"></Relationship><Relationship Id="rId10" Type="http://schemas.openxmlformats.org/officeDocument/2006/relationships/slideLayout" Target="../slideLayouts/slideLayout21.xml"></Relationship><Relationship Id="rId11" Type="http://schemas.openxmlformats.org/officeDocument/2006/relationships/slideLayout" Target="../slideLayouts/slideLayout22.xml"></Relationship><Relationship Id="rId12" Type="http://schemas.openxmlformats.org/officeDocument/2006/relationships/theme" Target="../theme/theme2.xml"></Relationship></Relationships>
</file>

<file path=ppt/slideMasters/_rels/slideMaster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3.xml"></Relationship><Relationship Id="rId2" Type="http://schemas.openxmlformats.org/officeDocument/2006/relationships/slideLayout" Target="../slideLayouts/slideLayout24.xml"></Relationship><Relationship Id="rId3" Type="http://schemas.openxmlformats.org/officeDocument/2006/relationships/slideLayout" Target="../slideLayouts/slideLayout25.xml"></Relationship><Relationship Id="rId4" Type="http://schemas.openxmlformats.org/officeDocument/2006/relationships/slideLayout" Target="../slideLayouts/slideLayout26.xml"></Relationship><Relationship Id="rId5" Type="http://schemas.openxmlformats.org/officeDocument/2006/relationships/slideLayout" Target="../slideLayouts/slideLayout27.xml"></Relationship><Relationship Id="rId6" Type="http://schemas.openxmlformats.org/officeDocument/2006/relationships/slideLayout" Target="../slideLayouts/slideLayout28.xml"></Relationship><Relationship Id="rId7" Type="http://schemas.openxmlformats.org/officeDocument/2006/relationships/slideLayout" Target="../slideLayouts/slideLayout29.xml"></Relationship><Relationship Id="rId8" Type="http://schemas.openxmlformats.org/officeDocument/2006/relationships/slideLayout" Target="../slideLayouts/slideLayout30.xml"></Relationship><Relationship Id="rId9" Type="http://schemas.openxmlformats.org/officeDocument/2006/relationships/slideLayout" Target="../slideLayouts/slideLayout31.xml"></Relationship><Relationship Id="rId10" Type="http://schemas.openxmlformats.org/officeDocument/2006/relationships/slideLayout" Target="../slideLayouts/slideLayout32.xml"></Relationship><Relationship Id="rId11" Type="http://schemas.openxmlformats.org/officeDocument/2006/relationships/slideLayout" Target="../slideLayouts/slideLayout33.xml"></Relationship><Relationship Id="rId12" Type="http://schemas.openxmlformats.org/officeDocument/2006/relationships/theme" Target="../theme/theme3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7505" cy="132778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/>
          </p:cNvSpPr>
          <p:nvPr>
            <p:ph type="body"/>
          </p:nvPr>
        </p:nvSpPr>
        <p:spPr>
          <a:xfrm rot="0">
            <a:off x="838200" y="1825625"/>
            <a:ext cx="10517505" cy="43535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마스터 부제목 스타일 편집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7505" cy="132778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/>
          </p:cNvSpPr>
          <p:nvPr>
            <p:ph type="body"/>
          </p:nvPr>
        </p:nvSpPr>
        <p:spPr>
          <a:xfrm rot="0">
            <a:off x="838200" y="1825625"/>
            <a:ext cx="10517505" cy="43535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마스터 부제목 스타일 편집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둘째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셋째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넷째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/>
          </p:cNvSpPr>
          <p:nvPr>
            <p:ph type="dt"/>
          </p:nvPr>
        </p:nvSpPr>
        <p:spPr>
          <a:xfrm rot="0">
            <a:off x="8382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2018-12-20</a:t>
            </a:fld>
          </a:p>
        </p:txBody>
      </p:sp>
      <p:sp>
        <p:nvSpPr>
          <p:cNvPr id="5" name="Rect 0"/>
          <p:cNvSpPr txBox="1">
            <a:spLocks/>
          </p:cNvSpPr>
          <p:nvPr>
            <p:ph type="ftr"/>
          </p:nvPr>
        </p:nvSpPr>
        <p:spPr>
          <a:xfrm rot="0">
            <a:off x="4038600" y="6356350"/>
            <a:ext cx="41167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Rect 0"/>
          <p:cNvSpPr txBox="1">
            <a:spLocks/>
          </p:cNvSpPr>
          <p:nvPr>
            <p:ph type="sldNum"/>
          </p:nvPr>
        </p:nvSpPr>
        <p:spPr>
          <a:xfrm rot="0">
            <a:off x="8610600" y="6356350"/>
            <a:ext cx="2745105" cy="36703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2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4.xml"></Relationship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image" Target="../media/fImage3157523841.png"></Relationship><Relationship Id="rId3" Type="http://schemas.openxmlformats.org/officeDocument/2006/relationships/slideLayout" Target="../slideLayouts/slideLayout24.xml"></Relationship></Relationships>
</file>

<file path=ppt/slides/_rels/slide4.xml.rels><?xml version="1.0" encoding="UTF-8"?>
<Relationships xmlns="http://schemas.openxmlformats.org/package/2006/relationships"><Relationship Id="rId2" Type="http://schemas.openxmlformats.org/officeDocument/2006/relationships/image" Target="../media/fImage19312488467.png"></Relationship><Relationship Id="rId3" Type="http://schemas.openxmlformats.org/officeDocument/2006/relationships/image" Target="../media/fImage199612496334.png"></Relationship><Relationship Id="rId4" Type="http://schemas.openxmlformats.org/officeDocument/2006/relationships/slideLayout" Target="../slideLayouts/slideLayout24.xml"></Relationship></Relationships>
</file>

<file path=ppt/slides/_rels/slide5.xml.rels><?xml version="1.0" encoding="UTF-8"?>
<Relationships xmlns="http://schemas.openxmlformats.org/package/2006/relationships"><Relationship Id="rId2" Type="http://schemas.openxmlformats.org/officeDocument/2006/relationships/image" Target="../media/fImage199502546500.png"></Relationship><Relationship Id="rId3" Type="http://schemas.openxmlformats.org/officeDocument/2006/relationships/image" Target="../media/fImage136212559169.png"></Relationship><Relationship Id="rId4" Type="http://schemas.openxmlformats.org/officeDocument/2006/relationships/slideLayout" Target="../slideLayouts/slideLayout24.xml"></Relationship></Relationships>
</file>

<file path=ppt/slides/_rels/slide6.xml.rels><?xml version="1.0" encoding="UTF-8"?>
<Relationships xmlns="http://schemas.openxmlformats.org/package/2006/relationships"><Relationship Id="rId2" Type="http://schemas.openxmlformats.org/officeDocument/2006/relationships/image" Target="../media/fImage1240122605724.png"></Relationship><Relationship Id="rId3" Type="http://schemas.openxmlformats.org/officeDocument/2006/relationships/slideLayout" Target="../slideLayouts/slideLayout24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4.xml"></Relationship><Relationship Id="rId2" Type="http://schemas.openxmlformats.org/officeDocument/2006/relationships/image" Target="../media/fImage1240122605724.png"></Relationship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image" Target="../media/fImage40302651478.png"></Relationship><Relationship Id="rId3" Type="http://schemas.openxmlformats.org/officeDocument/2006/relationships/image" Target="../media/fImage224982699358.png"></Relationship><Relationship Id="rId4" Type="http://schemas.openxmlformats.org/officeDocument/2006/relationships/slideLayout" Target="../slideLayouts/slideLayout24.xml"></Relationship></Relationships>
</file>

<file path=ppt/slides/_rels/slide9.xml.rels><?xml version="1.0" encoding="UTF-8"?>
<Relationships xmlns="http://schemas.openxmlformats.org/package/2006/relationships"><Relationship Id="rId2" Type="http://schemas.openxmlformats.org/officeDocument/2006/relationships/image" Target="../media/fImage60962706962.png"></Relationship><Relationship Id="rId3" Type="http://schemas.openxmlformats.org/officeDocument/2006/relationships/image" Target="../media/fImage88722714464.png"></Relationship><Relationship Id="rId4" Type="http://schemas.openxmlformats.org/officeDocument/2006/relationships/image" Target="../media/fImage265292725705.png"></Relationship><Relationship Id="rId5" Type="http://schemas.openxmlformats.org/officeDocument/2006/relationships/slideLayout" Target="../slideLayouts/slideLayout24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4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4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ctrTitle"/>
          </p:nvPr>
        </p:nvSpPr>
        <p:spPr>
          <a:xfrm rot="0">
            <a:off x="914400" y="2221230"/>
            <a:ext cx="10365105" cy="1211580"/>
          </a:xfrm>
          <a:prstGeom prst="rect"/>
        </p:spPr>
        <p:txBody>
          <a:bodyPr wrap="square" lIns="91440" tIns="45720" rIns="91440" bIns="45720" vert="horz" anchor="b">
            <a:normAutofit fontScale="9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8000" b="1">
                <a:solidFill>
                  <a:srgbClr val="0611F2"/>
                </a:solidFill>
                <a:latin typeface="나눔고딕" charset="0"/>
                <a:ea typeface="나눔고딕" charset="0"/>
              </a:rPr>
              <a:t>KOREA</a:t>
            </a:r>
            <a:r>
              <a:rPr sz="4000">
                <a:solidFill>
                  <a:srgbClr val="000000"/>
                </a:solidFill>
                <a:latin typeface="나눔고딕" charset="0"/>
                <a:ea typeface="나눔고딕" charset="0"/>
              </a:rPr>
              <a:t>&amp;</a:t>
            </a:r>
            <a:r>
              <a:rPr sz="8000" b="1">
                <a:solidFill>
                  <a:srgbClr val="FF0000"/>
                </a:solidFill>
                <a:latin typeface="나눔고딕" charset="0"/>
                <a:ea typeface="나눔고딕" charset="0"/>
              </a:rPr>
              <a:t>ME</a:t>
            </a:r>
            <a:r>
              <a:rPr sz="6000">
                <a:solidFill>
                  <a:srgbClr val="000000"/>
                </a:solidFill>
                <a:latin typeface="나눔고딕" charset="0"/>
                <a:ea typeface="나눔고딕" charset="0"/>
              </a:rPr>
              <a:t/>
            </a:r>
            <a:br>
              <a:rPr sz="6000">
                <a:solidFill>
                  <a:srgbClr val="000000"/>
                </a:solidFill>
                <a:latin typeface="나눔고딕" charset="0"/>
                <a:ea typeface="나눔고딕" charset="0"/>
              </a:rPr>
            </a:br>
            <a:r>
              <a:rPr sz="2000">
                <a:solidFill>
                  <a:srgbClr val="000000"/>
                </a:solidFill>
                <a:latin typeface="나눔고딕" charset="0"/>
                <a:ea typeface="나눔고딕" charset="0"/>
              </a:rPr>
              <a:t>인수인계</a:t>
            </a:r>
            <a:endParaRPr lang="ko-KR" altLang="en-US" sz="2000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/>
          </p:cNvSpPr>
          <p:nvPr>
            <p:ph type="subTitle"/>
          </p:nvPr>
        </p:nvSpPr>
        <p:spPr>
          <a:xfrm rot="0">
            <a:off x="1532890" y="4494530"/>
            <a:ext cx="9145905" cy="53784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2400">
                <a:solidFill>
                  <a:srgbClr val="000000"/>
                </a:solidFill>
                <a:latin typeface="Calibri" charset="0"/>
                <a:ea typeface="Calibri" charset="0"/>
              </a:rPr>
              <a:t>#</a:t>
            </a:r>
            <a:r>
              <a:rPr lang="ko-KR" sz="2400">
                <a:solidFill>
                  <a:srgbClr val="000000"/>
                </a:solidFill>
                <a:latin typeface="Calibri" charset="0"/>
                <a:ea typeface="맑은 고딕" charset="0"/>
              </a:rPr>
              <a:t>번역 가이드</a:t>
            </a:r>
            <a:endParaRPr lang="ko-KR" altLang="en-US" sz="2400">
              <a:solidFill>
                <a:srgbClr val="000000"/>
              </a:solidFill>
              <a:latin typeface="Calibri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454660" y="-36830"/>
            <a:ext cx="11269980" cy="80899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0</a:t>
            </a:r>
            <a:r>
              <a:rPr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. </a:t>
            </a: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서론</a:t>
            </a:r>
            <a:endParaRPr lang="ko-KR" altLang="en-US" sz="32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/>
          </p:cNvSpPr>
          <p:nvPr>
            <p:ph type="obj"/>
          </p:nvPr>
        </p:nvSpPr>
        <p:spPr>
          <a:xfrm rot="0">
            <a:off x="847090" y="1118235"/>
            <a:ext cx="10398125" cy="5383530"/>
          </a:xfrm>
          <a:prstGeom prst="rect"/>
        </p:spPr>
        <p:txBody>
          <a:bodyPr wrap="square" lIns="91440" tIns="45720" rIns="91440" bIns="45720" vert="horz" anchor="t">
            <a:normAutofit fontScale="100000" lnSpcReduction="20000"/>
          </a:bodyPr>
          <a:lstStyle/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rgbClr val="000000"/>
                </a:solidFill>
                <a:latin typeface="나눔고딕" charset="0"/>
                <a:ea typeface="나눔고딕" charset="0"/>
              </a:rPr>
              <a:t>코리아앤미의 다국어 지원은 3가지 방식으로 번역을 구현하고 있음.</a:t>
            </a: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1.App Text</a:t>
            </a:r>
            <a:endParaRPr lang="ko-KR" altLang="en-US" sz="18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버블이 제공하는 가장 기본적인 번역개발 기능. 홈페이지를 이루는 대부분의 정적텍스트(일반텍스트)에 사용함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2.Option Set</a:t>
            </a:r>
            <a:endParaRPr lang="ko-KR" altLang="en-US" sz="18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Option Set을 통해 입력되있는 데이터에 다국어를 적용하기 위해 Option Set 기능을 응용해서 번역을 구현함.</a:t>
            </a: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3.Google Translation API</a:t>
            </a:r>
            <a:endParaRPr lang="ko-KR" altLang="en-US" sz="18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외부 채용공고 정보를 끌어올 때 채용정보에 번역을 자동으로 적용하기 위해서 Google Translation API 사용</a:t>
            </a:r>
            <a:endParaRPr lang="ko-KR" altLang="en-US" sz="14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rgbClr val="000000"/>
                </a:solidFill>
                <a:latin typeface="나눔고딕" charset="0"/>
                <a:ea typeface="나눔고딕" charset="0"/>
              </a:rPr>
              <a:t>즉, 고정되지 않은 값인 동적데이터를 번역하기 위해 사용</a:t>
            </a:r>
            <a:endParaRPr lang="ko-KR" altLang="en-US" sz="18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454660" y="-36830"/>
            <a:ext cx="11269980" cy="80899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1</a:t>
            </a:r>
            <a:r>
              <a:rPr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.</a:t>
            </a: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App Text - 관리창</a:t>
            </a:r>
            <a:endParaRPr lang="ko-KR" altLang="en-US" sz="32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/>
          </p:cNvSpPr>
          <p:nvPr>
            <p:ph type="obj"/>
          </p:nvPr>
        </p:nvSpPr>
        <p:spPr>
          <a:xfrm rot="0">
            <a:off x="838200" y="978535"/>
            <a:ext cx="10398125" cy="5383530"/>
          </a:xfrm>
          <a:prstGeom prst="rect"/>
        </p:spPr>
        <p:txBody>
          <a:bodyPr wrap="square" lIns="91440" tIns="45720" rIns="91440" bIns="45720" vert="horz" anchor="t">
            <a:normAutofit fontScale="100000" lnSpcReduction="20000"/>
          </a:bodyPr>
          <a:lstStyle/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rgbClr val="000000"/>
                </a:solidFill>
                <a:latin typeface="나눔고딕" charset="0"/>
                <a:ea typeface="나눔고딕" charset="0"/>
              </a:rPr>
              <a:t>-Setting 탭 &gt; Language에서 App Text를 관리할 수 있음. </a:t>
            </a: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rgbClr val="000000"/>
                </a:solidFill>
                <a:latin typeface="나눔고딕" charset="0"/>
                <a:ea typeface="나눔고딕" charset="0"/>
              </a:rPr>
              <a:t>-App Text란 사용자의 현재 언어에 따라 언어의 번역본이 달라지는 Text를 말한다.</a:t>
            </a: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6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47520" y="1863090"/>
            <a:ext cx="8173085" cy="47917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454660" y="-36830"/>
            <a:ext cx="11269980" cy="80899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1</a:t>
            </a:r>
            <a:r>
              <a:rPr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.</a:t>
            </a: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App Text - 생성법</a:t>
            </a:r>
            <a:endParaRPr lang="ko-KR" altLang="en-US" sz="32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/>
          </p:cNvSpPr>
          <p:nvPr>
            <p:ph type="obj"/>
          </p:nvPr>
        </p:nvSpPr>
        <p:spPr>
          <a:xfrm rot="0">
            <a:off x="838200" y="978535"/>
            <a:ext cx="10398125" cy="5383530"/>
          </a:xfrm>
          <a:prstGeom prst="rect"/>
        </p:spPr>
        <p:txBody>
          <a:bodyPr wrap="square" lIns="91440" tIns="45720" rIns="91440" bIns="45720" vert="horz" anchor="t">
            <a:normAutofit fontScale="100000" lnSpcReduction="20000"/>
          </a:bodyPr>
          <a:lstStyle/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rgbClr val="000000"/>
                </a:solidFill>
                <a:latin typeface="나눔고딕" charset="0"/>
                <a:ea typeface="나눔고딕" charset="0"/>
              </a:rPr>
              <a:t>-App Texts는 “Create Text”를 누르면 하나씩 생성할 수 있다. </a:t>
            </a: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rgbClr val="000000"/>
                </a:solidFill>
                <a:latin typeface="나눔고딕" charset="0"/>
                <a:ea typeface="나눔고딕" charset="0"/>
              </a:rPr>
              <a:t>  </a:t>
            </a:r>
            <a:r>
              <a:rPr lang="ko-KR" sz="1400">
                <a:solidFill>
                  <a:schemeClr val="bg1">
                    <a:lumMod val="65000"/>
                    <a:lumOff val="0"/>
                  </a:schemeClr>
                </a:solidFill>
                <a:latin typeface="나눔고딕" charset="0"/>
                <a:ea typeface="나눔고딕" charset="0"/>
              </a:rPr>
              <a:t>(ID는 임의로 지어주면 되지만 한글번역값을 입력해 헷갈림을 방지하도록 한다.)</a:t>
            </a: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rgbClr val="000000"/>
                </a:solidFill>
                <a:latin typeface="나눔고딕" charset="0"/>
                <a:ea typeface="나눔고딕" charset="0"/>
              </a:rPr>
              <a:t>-App Text 생성시 아래 리스트에 입려한 ID로 항목이 추가된다. 해당 항목에 대해 “Currently editing message and texts for” 의 언어값을 변경해가면서 지원할 언어에 대해 번역값을 입력해준다.</a:t>
            </a: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rgbClr val="000000"/>
                </a:solidFill>
                <a:latin typeface="나눔고딕" charset="0"/>
                <a:ea typeface="나눔고딕" charset="0"/>
              </a:rPr>
              <a:t>-이렇게 생성한 App Text는 오른쪽 그림처럼 나중에 Dyanamic Data를 삽입해 사용할 수 있다. 이렇게 입력하면 User의 lang이란 필드에 입력된 언어코드값에 해당하는 언어로 사용자에게 표시된다.</a:t>
            </a: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8" name="그림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754745" y="3669030"/>
            <a:ext cx="2353310" cy="848360"/>
          </a:xfrm>
          <a:prstGeom prst="rect"/>
          <a:noFill/>
        </p:spPr>
      </p:pic>
      <p:pic>
        <p:nvPicPr>
          <p:cNvPr id="9" name="그림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80745" y="3000375"/>
            <a:ext cx="7582535" cy="36010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454660" y="-36830"/>
            <a:ext cx="11269980" cy="80899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1</a:t>
            </a:r>
            <a:r>
              <a:rPr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.</a:t>
            </a: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App Text - 엑셀활용 대량작업</a:t>
            </a:r>
            <a:endParaRPr lang="ko-KR" altLang="en-US" sz="32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/>
          </p:cNvSpPr>
          <p:nvPr>
            <p:ph type="obj"/>
          </p:nvPr>
        </p:nvSpPr>
        <p:spPr>
          <a:xfrm rot="0">
            <a:off x="838200" y="978535"/>
            <a:ext cx="10398125" cy="5383530"/>
          </a:xfrm>
          <a:prstGeom prst="rect"/>
        </p:spPr>
        <p:txBody>
          <a:bodyPr wrap="square" lIns="91440" tIns="45720" rIns="91440" bIns="45720" vert="horz" anchor="t">
            <a:normAutofit fontScale="100000" lnSpcReduction="20000"/>
          </a:bodyPr>
          <a:lstStyle/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rgbClr val="000000"/>
                </a:solidFill>
                <a:latin typeface="나눔고딕" charset="0"/>
                <a:ea typeface="나눔고딕" charset="0"/>
              </a:rPr>
              <a:t>-하나의 App Text를 생성할 때는 버블 내에서 하면 되지만 다수의 App Text를 만드려면 엑셀활용해야 함.</a:t>
            </a: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rgbClr val="000000"/>
                </a:solidFill>
                <a:latin typeface="나눔고딕" charset="0"/>
                <a:ea typeface="나눔고딕" charset="0"/>
              </a:rPr>
              <a:t>-Export를 눌러 7개의 언어를 체크한 후 csv파일로 뽑아낸다.</a:t>
            </a: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rgbClr val="000000"/>
                </a:solidFill>
                <a:latin typeface="나눔고딕" charset="0"/>
                <a:ea typeface="나눔고딕" charset="0"/>
              </a:rPr>
              <a:t>-주의할 점은 </a:t>
            </a:r>
            <a:r>
              <a:rPr lang="ko-KR" sz="1800" b="1">
                <a:solidFill>
                  <a:srgbClr val="FF0000"/>
                </a:solidFill>
                <a:latin typeface="나눔고딕" charset="0"/>
                <a:ea typeface="나눔고딕" charset="0"/>
              </a:rPr>
              <a:t>App Text의 생성과 삭제는 반드시 버블을 통해 진행할 것</a:t>
            </a:r>
            <a:r>
              <a:rPr lang="ko-KR" sz="1800">
                <a:solidFill>
                  <a:srgbClr val="FF0000"/>
                </a:solidFill>
                <a:latin typeface="나눔고딕" charset="0"/>
                <a:ea typeface="나눔고딕" charset="0"/>
              </a:rPr>
              <a:t>.</a:t>
            </a:r>
            <a:r>
              <a:rPr lang="ko-KR" sz="1800">
                <a:solidFill>
                  <a:srgbClr val="000000"/>
                </a:solidFill>
                <a:latin typeface="나눔고딕" charset="0"/>
                <a:ea typeface="나눔고딕" charset="0"/>
              </a:rPr>
              <a:t> 즉 10개의 App Text를 만드려고 한다면 아무 ID로 Create Text 10번을 누른다. 그 후 export하고 생성된 행을 찾아서 그 곳에 번역작업을 해야한다. 그 이유는 Create Text를 할 때 버블 백엔드에 의해 해당 App Text에 고유ID가 부여되고 실제로 등록되는 것이기 때문에 엑셀로 행을 추가해서 import한다고 해서 버블에 인식되지 않음.</a:t>
            </a: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9" name="그림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97230" y="3044190"/>
            <a:ext cx="7582535" cy="3601085"/>
          </a:xfrm>
          <a:prstGeom prst="rect"/>
          <a:noFill/>
        </p:spPr>
      </p:pic>
      <p:pic>
        <p:nvPicPr>
          <p:cNvPr id="10" name="그림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665210" y="2664460"/>
            <a:ext cx="2815590" cy="398462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454660" y="-36830"/>
            <a:ext cx="11269980" cy="80899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1</a:t>
            </a:r>
            <a:r>
              <a:rPr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.</a:t>
            </a: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App Text - 엑셀활용 대량작업</a:t>
            </a:r>
            <a:endParaRPr lang="ko-KR" altLang="en-US" sz="32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/>
          </p:cNvSpPr>
          <p:nvPr>
            <p:ph type="obj"/>
          </p:nvPr>
        </p:nvSpPr>
        <p:spPr>
          <a:xfrm rot="0">
            <a:off x="838200" y="978535"/>
            <a:ext cx="10398125" cy="5383530"/>
          </a:xfrm>
          <a:prstGeom prst="rect"/>
        </p:spPr>
        <p:txBody>
          <a:bodyPr wrap="square" lIns="91440" tIns="45720" rIns="91440" bIns="45720" vert="horz" anchor="t">
            <a:normAutofit fontScale="100000" lnSpcReduction="20000"/>
          </a:bodyPr>
          <a:lstStyle/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rgbClr val="000000"/>
                </a:solidFill>
                <a:latin typeface="나눔고딕" charset="0"/>
                <a:ea typeface="나눔고딕" charset="0"/>
              </a:rPr>
              <a:t>-다음과 같이 엑셀로 번역작업을 하고 다시 버블에 Import 하면 된다.</a:t>
            </a: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rgbClr val="000000"/>
                </a:solidFill>
                <a:latin typeface="나눔고딕" charset="0"/>
                <a:ea typeface="나눔고딕" charset="0"/>
              </a:rPr>
              <a:t>-GoogleTranslate 함수 활용하면 Good</a:t>
            </a: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2800" i="0" b="0">
                <a:solidFill>
                  <a:srgbClr val="000000"/>
                </a:solidFill>
                <a:latin typeface="Google Sans Mono" charset="0"/>
                <a:ea typeface="Google Sans Mono" charset="0"/>
              </a:rPr>
              <a:t>  </a:t>
            </a:r>
            <a:r>
              <a:rPr lang="ko-KR" sz="2000" i="0" b="0">
                <a:solidFill>
                  <a:srgbClr val="000000"/>
                </a:solidFill>
                <a:latin typeface="Google Sans Mono" charset="0"/>
                <a:ea typeface="Google Sans Mono" charset="0"/>
              </a:rPr>
              <a:t>Ex) </a:t>
            </a:r>
            <a:r>
              <a:rPr sz="2000" i="0" b="0">
                <a:solidFill>
                  <a:srgbClr val="000000"/>
                </a:solidFill>
                <a:latin typeface="Google Sans Mono" charset="0"/>
                <a:ea typeface="Google Sans Mono" charset="0"/>
              </a:rPr>
              <a:t>=GOOGLETRANSLATE(</a:t>
            </a:r>
            <a:r>
              <a:rPr sz="2000" i="0" b="0">
                <a:solidFill>
                  <a:srgbClr val="F7981D"/>
                </a:solidFill>
                <a:latin typeface="Google Sans Mono" charset="0"/>
                <a:ea typeface="Google Sans Mono" charset="0"/>
              </a:rPr>
              <a:t>F14</a:t>
            </a:r>
            <a:r>
              <a:rPr sz="2000" i="0" b="0">
                <a:solidFill>
                  <a:srgbClr val="000000"/>
                </a:solidFill>
                <a:latin typeface="Google Sans Mono" charset="0"/>
                <a:ea typeface="Google Sans Mono" charset="0"/>
              </a:rPr>
              <a:t>, </a:t>
            </a:r>
            <a:r>
              <a:rPr sz="2000" i="0" b="0">
                <a:solidFill>
                  <a:srgbClr val="008000"/>
                </a:solidFill>
                <a:latin typeface="Google Sans Mono" charset="0"/>
                <a:ea typeface="Google Sans Mono" charset="0"/>
              </a:rPr>
              <a:t>"ko"</a:t>
            </a:r>
            <a:r>
              <a:rPr sz="2000" i="0" b="0">
                <a:solidFill>
                  <a:srgbClr val="000000"/>
                </a:solidFill>
                <a:latin typeface="Google Sans Mono" charset="0"/>
                <a:ea typeface="Google Sans Mono" charset="0"/>
              </a:rPr>
              <a:t>, </a:t>
            </a:r>
            <a:r>
              <a:rPr sz="2000" i="0" b="0">
                <a:solidFill>
                  <a:srgbClr val="008000"/>
                </a:solidFill>
                <a:latin typeface="Google Sans Mono" charset="0"/>
                <a:ea typeface="Google Sans Mono" charset="0"/>
              </a:rPr>
              <a:t>"vi"</a:t>
            </a:r>
            <a:r>
              <a:rPr sz="2000" i="0" b="0">
                <a:solidFill>
                  <a:srgbClr val="000000"/>
                </a:solidFill>
                <a:latin typeface="Google Sans Mono" charset="0"/>
                <a:ea typeface="Google Sans Mono" charset="0"/>
              </a:rPr>
              <a:t>)</a:t>
            </a:r>
            <a:endParaRPr lang="ko-KR" altLang="en-US" sz="2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rgbClr val="000000"/>
                </a:solidFill>
                <a:latin typeface="나눔고딕" charset="0"/>
                <a:ea typeface="나눔고딕" charset="0"/>
              </a:rPr>
              <a:t>    </a:t>
            </a:r>
            <a:r>
              <a:rPr lang="ko-KR" sz="1400">
                <a:solidFill>
                  <a:schemeClr val="bg1">
                    <a:lumMod val="50000"/>
                    <a:lumOff val="0"/>
                  </a:schemeClr>
                </a:solidFill>
                <a:latin typeface="나눔고딕" charset="0"/>
                <a:ea typeface="나눔고딕" charset="0"/>
              </a:rPr>
              <a:t>F14칸의 값을 한국어 -&gt; 베트남어로 번역한다.</a:t>
            </a: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6" name="그림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42290" y="2324100"/>
            <a:ext cx="9243695" cy="430974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454660" y="-36830"/>
            <a:ext cx="11270615" cy="80962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1.App Text - 엑셀활용 대량작업</a:t>
            </a:r>
            <a:endParaRPr lang="ko-KR" altLang="en-US" sz="32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/>
          </p:cNvSpPr>
          <p:nvPr>
            <p:ph type="obj"/>
          </p:nvPr>
        </p:nvSpPr>
        <p:spPr>
          <a:xfrm rot="0">
            <a:off x="838200" y="978535"/>
            <a:ext cx="10939780" cy="538416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20000"/>
          </a:bodyPr>
          <a:lstStyle/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-</a:t>
            </a:r>
            <a:r>
              <a:rPr lang="ko-KR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text_code는 ID이다. 이는 엑셀로 수정해도 import시 변경내용이 적용되지 않는다.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-때문에 import한 후에 버블에서 ID는 다시 한국번역본으로 하나하나 수정해주어야 한다. </a:t>
            </a:r>
            <a:r>
              <a:rPr lang="ko-KR" sz="1800">
                <a:solidFill>
                  <a:schemeClr val="bg1">
                    <a:lumMod val="50000"/>
                    <a:lumOff val="0"/>
                  </a:schemeClr>
                </a:solidFill>
                <a:latin typeface="나눔고딕" charset="0"/>
                <a:ea typeface="나눔고딕" charset="0"/>
              </a:rPr>
              <a:t>(우리는 이전 단계에서 임의의 ID로 일단 여러 개 만들고 export 했었다.)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-버블에서 ID를 수정하는 과정에서 왼쪽 ID와 오른쪽 번역값이 일치하지 않고 밀리는 버그가 있다. 참고바람</a:t>
            </a: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6" name="Picture " descr="C:/Users/octopus/AppData/Roaming/PolarisOffice/ETemp/10780_7308512/fImage124012260572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42290" y="2324100"/>
            <a:ext cx="9244330" cy="431038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454660" y="-36830"/>
            <a:ext cx="11269980" cy="80899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2</a:t>
            </a:r>
            <a:r>
              <a:rPr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.</a:t>
            </a: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Option Set - 개념</a:t>
            </a:r>
            <a:endParaRPr lang="ko-KR" altLang="en-US" sz="32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/>
          </p:cNvSpPr>
          <p:nvPr>
            <p:ph type="obj"/>
          </p:nvPr>
        </p:nvSpPr>
        <p:spPr>
          <a:xfrm rot="0">
            <a:off x="829310" y="768985"/>
            <a:ext cx="10398125" cy="5383530"/>
          </a:xfrm>
          <a:prstGeom prst="rect"/>
        </p:spPr>
        <p:txBody>
          <a:bodyPr wrap="square" lIns="91440" tIns="45720" rIns="91440" bIns="45720" vert="horz" anchor="t">
            <a:normAutofit fontScale="100000" lnSpcReduction="20000"/>
          </a:bodyPr>
          <a:lstStyle/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-Option Set이란 </a:t>
            </a:r>
            <a:r>
              <a:rPr lang="ko-KR" sz="1800" b="1">
                <a:solidFill>
                  <a:srgbClr val="0611F2"/>
                </a:solidFill>
                <a:latin typeface="나눔고딕" charset="0"/>
                <a:ea typeface="나눔고딕" charset="0"/>
              </a:rPr>
              <a:t>데이터 리스트를 정의</a:t>
            </a:r>
            <a:r>
              <a:rPr lang="ko-KR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해두고 필요할 때마다 사용하는 것이다. 리스트 데이터의 일관된 관리를 위함이다. 하나의 예시를 들어보겠음.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chemeClr val="tx1"/>
                </a:solidFill>
                <a:latin typeface="나눔고딕" charset="0"/>
                <a:ea typeface="나눔고딕" charset="0"/>
              </a:rPr>
              <a:t>1. Car 라는 </a:t>
            </a:r>
            <a:r>
              <a:rPr lang="ko-KR" sz="1400">
                <a:solidFill>
                  <a:srgbClr val="0611F2"/>
                </a:solidFill>
                <a:latin typeface="나눔고딕" charset="0"/>
                <a:ea typeface="나눔고딕" charset="0"/>
              </a:rPr>
              <a:t>Option Set</a:t>
            </a:r>
            <a:r>
              <a:rPr lang="ko-KR" sz="1400">
                <a:solidFill>
                  <a:schemeClr val="tx1"/>
                </a:solidFill>
                <a:latin typeface="나눔고딕" charset="0"/>
                <a:ea typeface="나눔고딕" charset="0"/>
              </a:rPr>
              <a:t>을 생성함.</a:t>
            </a: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chemeClr val="tx1"/>
                </a:solidFill>
                <a:latin typeface="나눔고딕" charset="0"/>
                <a:ea typeface="나눔고딕" charset="0"/>
              </a:rPr>
              <a:t>2. Car 라는 Option Set에는 세단, 쿠페, 티코 등의 </a:t>
            </a:r>
            <a:r>
              <a:rPr lang="ko-KR" sz="1400">
                <a:solidFill>
                  <a:srgbClr val="0611F2"/>
                </a:solidFill>
                <a:latin typeface="나눔고딕" charset="0"/>
                <a:ea typeface="나눔고딕" charset="0"/>
              </a:rPr>
              <a:t>Option</a:t>
            </a:r>
            <a:r>
              <a:rPr lang="ko-KR" sz="1400">
                <a:solidFill>
                  <a:schemeClr val="tx1"/>
                </a:solidFill>
                <a:latin typeface="나눔고딕" charset="0"/>
                <a:ea typeface="나눔고딕" charset="0"/>
              </a:rPr>
              <a:t> 들을 넣을 수 있게 됨.</a:t>
            </a: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400">
                <a:solidFill>
                  <a:schemeClr val="tx1"/>
                </a:solidFill>
                <a:latin typeface="나눔고딕" charset="0"/>
                <a:ea typeface="나눔고딕" charset="0"/>
              </a:rPr>
              <a:t>3. 세단, 쿠페, 티코 등의 각 Option에는 가격, 연비, 속력 등의 임의의 </a:t>
            </a:r>
            <a:r>
              <a:rPr lang="ko-KR" sz="1400">
                <a:solidFill>
                  <a:srgbClr val="0611F2"/>
                </a:solidFill>
                <a:latin typeface="나눔고딕" charset="0"/>
                <a:ea typeface="나눔고딕" charset="0"/>
              </a:rPr>
              <a:t>Attribute</a:t>
            </a:r>
            <a:r>
              <a:rPr lang="ko-KR" sz="1400">
                <a:solidFill>
                  <a:schemeClr val="tx1"/>
                </a:solidFill>
                <a:latin typeface="나눔고딕" charset="0"/>
                <a:ea typeface="나눔고딕" charset="0"/>
              </a:rPr>
              <a:t>를 설정할 수 있음</a:t>
            </a: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이렇게 Option Set를 설정해두면 리스트 오른쪽 그림과 같이 Dynamic Data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를 통해 리스트를 불러오거나 활용할 수 있음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6" name="그림 1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065260" y="1975485"/>
            <a:ext cx="1505585" cy="1353185"/>
          </a:xfrm>
          <a:prstGeom prst="rect"/>
          <a:noFill/>
        </p:spPr>
      </p:pic>
      <p:pic>
        <p:nvPicPr>
          <p:cNvPr id="7" name="그림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25500" y="3529965"/>
            <a:ext cx="5265420" cy="32594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454660" y="-36830"/>
            <a:ext cx="11269980" cy="80899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   2</a:t>
            </a:r>
            <a:r>
              <a:rPr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.</a:t>
            </a: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Option Set - 생성</a:t>
            </a:r>
            <a:endParaRPr lang="ko-KR" altLang="en-US" sz="32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/>
          </p:cNvSpPr>
          <p:nvPr>
            <p:ph type="obj"/>
          </p:nvPr>
        </p:nvSpPr>
        <p:spPr>
          <a:xfrm rot="0">
            <a:off x="829310" y="978535"/>
            <a:ext cx="6894830" cy="5383530"/>
          </a:xfrm>
          <a:prstGeom prst="rect"/>
        </p:spPr>
        <p:txBody>
          <a:bodyPr wrap="square" lIns="91440" tIns="45720" rIns="91440" bIns="45720" vert="horz" anchor="t">
            <a:normAutofit fontScale="100000" lnSpcReduction="20000"/>
          </a:bodyPr>
          <a:lstStyle/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-Option의 Attribute에는 App Text를 입력하지 못하기 때문에 Option의 내용이 유저에게 표시되는 상황에 다국어 지원이 어렵다. 예를 들어 드롭다운의 선택지를 Option Set의 비자 리스트를 표시하게 하려할 때 다국어 지원을 구현하기 난감하다.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-때문에 이중으로 Option Set을 구현하여 번역본의 값이 담겨있는 Option Set을 따로 구현한다. 아래 그림처럼 Admission라는 Option Set의 번역값들을 담긴 Admission_Translation을 만드는 것이다. Translation Option Set에 각 Option의 번역본 7개씩을 만들고 Admission의 attribute에서 리스트를 하나 만들고 그 안에 각 번역본을 담아야 한다. 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-</a:t>
            </a:r>
            <a:r>
              <a:rPr lang="ko-KR" sz="1200">
                <a:solidFill>
                  <a:schemeClr val="tx1"/>
                </a:solidFill>
                <a:latin typeface="나눔고딕" charset="0"/>
                <a:ea typeface="나눔고딕" charset="0"/>
              </a:rPr>
              <a:t>말로 헷갈리니 직접 둘러보면서 감 잡는  것 추천</a:t>
            </a:r>
            <a:endParaRPr lang="ko-KR" altLang="en-US" sz="12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2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6" name="그림 1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14985" y="4405630"/>
            <a:ext cx="3334385" cy="2153285"/>
          </a:xfrm>
          <a:prstGeom prst="rect"/>
          <a:noFill/>
        </p:spPr>
      </p:pic>
      <p:pic>
        <p:nvPicPr>
          <p:cNvPr id="7" name="그림 1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178300" y="3771900"/>
            <a:ext cx="4115435" cy="2791460"/>
          </a:xfrm>
          <a:prstGeom prst="rect"/>
          <a:noFill/>
        </p:spPr>
      </p:pic>
      <p:pic>
        <p:nvPicPr>
          <p:cNvPr id="8" name="그림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686040" y="266065"/>
            <a:ext cx="4229735" cy="65538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454660" y="-36830"/>
            <a:ext cx="11269980" cy="80899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   2</a:t>
            </a:r>
            <a:r>
              <a:rPr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.</a:t>
            </a: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Option Set - 활용</a:t>
            </a:r>
            <a:endParaRPr lang="ko-KR" altLang="en-US" sz="32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/>
          </p:cNvSpPr>
          <p:nvPr>
            <p:ph type="obj"/>
          </p:nvPr>
        </p:nvSpPr>
        <p:spPr>
          <a:xfrm rot="0">
            <a:off x="829310" y="978535"/>
            <a:ext cx="10476865" cy="5383530"/>
          </a:xfrm>
          <a:prstGeom prst="rect"/>
        </p:spPr>
        <p:txBody>
          <a:bodyPr wrap="square" lIns="91440" tIns="45720" rIns="91440" bIns="45720" vert="horz" anchor="t">
            <a:normAutofit fontScale="100000" lnSpcReduction="20000"/>
          </a:bodyPr>
          <a:lstStyle/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-Option Set을 만들어두면 일관된 리스트 데이터를 관리할 수 있어 나중에 변경사항이 생기더라도 Option Set에서 관련값만 수정해주면 이 사용한 곳 모두 동일하게 변경이 적용된다.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-Option Set은 아래 그림처럼 Dynamic Data등의 소스로 활용되어 질 수 있음.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-Option Set을 입력/수정/삭제 대량작업 하기 위해선 Framify라는 사이트를 유료구독 후 사용해야 하며 자세한 사용법은 생략한다. (버그도 많고 더러움)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2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2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454660" y="225425"/>
            <a:ext cx="11269980" cy="80899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   3</a:t>
            </a:r>
            <a:r>
              <a:rPr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.</a:t>
            </a:r>
            <a:r>
              <a:rPr lang="ko-KR" sz="3200" b="1">
                <a:solidFill>
                  <a:srgbClr val="000000"/>
                </a:solidFill>
                <a:latin typeface="나눔고딕" charset="0"/>
                <a:ea typeface="나눔고딕" charset="0"/>
              </a:rPr>
              <a:t>Google Translation API</a:t>
            </a:r>
            <a:endParaRPr lang="ko-KR" altLang="en-US" sz="32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/>
          </p:cNvSpPr>
          <p:nvPr>
            <p:ph type="obj"/>
          </p:nvPr>
        </p:nvSpPr>
        <p:spPr>
          <a:xfrm rot="0">
            <a:off x="829310" y="978535"/>
            <a:ext cx="10476865" cy="5383530"/>
          </a:xfrm>
          <a:prstGeom prst="rect"/>
        </p:spPr>
        <p:txBody>
          <a:bodyPr wrap="square" lIns="91440" tIns="45720" rIns="91440" bIns="45720" vert="horz" anchor="t">
            <a:normAutofit fontScale="100000" lnSpcReduction="20000"/>
          </a:bodyPr>
          <a:lstStyle/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2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2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228600" indent="-228600" rtl="0" algn="l" defTabSz="914400" eaLnBrk="1" latinLnBrk="0" hangingPunct="1">
              <a:buFontTx/>
              <a:buNone/>
            </a:pPr>
            <a:endParaRPr lang="ko-KR" altLang="en-US" sz="1800" b="1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텍스트 상자 20"/>
          <p:cNvSpPr txBox="1">
            <a:spLocks/>
          </p:cNvSpPr>
          <p:nvPr/>
        </p:nvSpPr>
        <p:spPr>
          <a:xfrm rot="0">
            <a:off x="647065" y="1211580"/>
            <a:ext cx="10598150" cy="1108075"/>
          </a:xfrm>
          <a:prstGeom prst="rect"/>
          <a:noFill/>
        </p:spPr>
        <p:txBody>
          <a:bodyPr wrap="square" lIns="0" tIns="0" rIns="0" bIns="0" vert="horz" anchor="t">
            <a:no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외부 채용공고 데이터를 수집하여 Google Translation API를 활용해 7개 언어로 번역한 후, 번역된 데이터를 각각 AWS 데이터베이스에 저장.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해당 프로그램은 Python Flask으로 개발했으며 프로그램은 같이 인수인계 폴더에 첨부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11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인 길환</dc:creator>
  <cp:lastModifiedBy>인 길환</cp:lastModifiedBy>
  <dc:title>PowerPoint 프레젠테이션</dc:title>
  <cp:version>9.102.73.43337</cp:version>
</cp:coreProperties>
</file>