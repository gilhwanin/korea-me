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32" r:id="rId35"/>
    <p:sldMasterId id="2147483733" r:id="rId37"/>
    <p:sldMasterId id="2147483734" r:id="rId39"/>
  </p:sldMasterIdLst>
  <p:notesMasterIdLst>
    <p:notesMasterId r:id="rId43"/>
  </p:notesMasterIdLst>
  <p:handoutMasterIdLst>
    <p:handoutMasterId r:id="rId41"/>
  </p:handoutMasterIdLst>
  <p:sldIdLst>
    <p:sldId id="257" r:id="rId45"/>
    <p:sldId id="259" r:id="rId46"/>
    <p:sldId id="258" r:id="rId47"/>
    <p:sldId id="260" r:id="rId48"/>
    <p:sldId id="261" r:id="rId49"/>
    <p:sldId id="262" r:id="rId50"/>
    <p:sldId id="263" r:id="rId51"/>
    <p:sldId id="264" r:id="rId52"/>
    <p:sldId id="265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5" Type="http://schemas.openxmlformats.org/officeDocument/2006/relationships/slideMaster" Target="slideMasters/slideMaster1.xml"></Relationship><Relationship Id="rId36" Type="http://schemas.openxmlformats.org/officeDocument/2006/relationships/theme" Target="theme/theme1.xml"></Relationship><Relationship Id="rId37" Type="http://schemas.openxmlformats.org/officeDocument/2006/relationships/slideMaster" Target="slideMasters/slideMaster2.xml"></Relationship><Relationship Id="rId39" Type="http://schemas.openxmlformats.org/officeDocument/2006/relationships/slideMaster" Target="slideMasters/slideMaster3.xml"></Relationship><Relationship Id="rId41" Type="http://schemas.openxmlformats.org/officeDocument/2006/relationships/handoutMaster" Target="handoutMasters/handoutMaster1.xml"></Relationship><Relationship Id="rId43" Type="http://schemas.openxmlformats.org/officeDocument/2006/relationships/notesMaster" Target="notesMasters/notesMaster1.xml"></Relationship><Relationship Id="rId45" Type="http://schemas.openxmlformats.org/officeDocument/2006/relationships/slide" Target="slides/slide1.xml"></Relationship><Relationship Id="rId46" Type="http://schemas.openxmlformats.org/officeDocument/2006/relationships/slide" Target="slides/slide2.xml"></Relationship><Relationship Id="rId47" Type="http://schemas.openxmlformats.org/officeDocument/2006/relationships/slide" Target="slides/slide3.xml"></Relationship><Relationship Id="rId48" Type="http://schemas.openxmlformats.org/officeDocument/2006/relationships/slide" Target="slides/slide4.xml"></Relationship><Relationship Id="rId49" Type="http://schemas.openxmlformats.org/officeDocument/2006/relationships/slide" Target="slides/slide5.xml"></Relationship><Relationship Id="rId50" Type="http://schemas.openxmlformats.org/officeDocument/2006/relationships/slide" Target="slides/slide6.xml"></Relationship><Relationship Id="rId51" Type="http://schemas.openxmlformats.org/officeDocument/2006/relationships/slide" Target="slides/slide7.xml"></Relationship><Relationship Id="rId52" Type="http://schemas.openxmlformats.org/officeDocument/2006/relationships/slide" Target="slides/slide8.xml"></Relationship><Relationship Id="rId53" Type="http://schemas.openxmlformats.org/officeDocument/2006/relationships/slide" Target="slides/slide9.xml"></Relationship><Relationship Id="rId55" Type="http://schemas.openxmlformats.org/officeDocument/2006/relationships/viewProps" Target="viewProps.xml"></Relationship><Relationship Id="rId56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4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5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slide" Target="../slides/slide1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1122680"/>
            <a:ext cx="103644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24000" y="3602355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부제목을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5182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6172200" y="1825625"/>
            <a:ext cx="5182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40105" y="1681480"/>
            <a:ext cx="5158740" cy="82486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840105" y="2505075"/>
            <a:ext cx="5158740" cy="3686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body"/>
          </p:nvPr>
        </p:nvSpPr>
        <p:spPr>
          <a:xfrm rot="0">
            <a:off x="6172200" y="1681480"/>
            <a:ext cx="5184775" cy="82486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6" name="Rect 0"/>
          <p:cNvSpPr txBox="1">
            <a:spLocks/>
          </p:cNvSpPr>
          <p:nvPr>
            <p:ph type="obj"/>
          </p:nvPr>
        </p:nvSpPr>
        <p:spPr>
          <a:xfrm rot="0">
            <a:off x="6172200" y="2505075"/>
            <a:ext cx="5184775" cy="3686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8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9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4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5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3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 noChangeAspect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1122680"/>
            <a:ext cx="103644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24000" y="3602355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부제목을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5182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6172200" y="1825625"/>
            <a:ext cx="5182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40105" y="1681480"/>
            <a:ext cx="5158740" cy="82486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840105" y="2505075"/>
            <a:ext cx="5158740" cy="3686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body"/>
          </p:nvPr>
        </p:nvSpPr>
        <p:spPr>
          <a:xfrm rot="0">
            <a:off x="6172200" y="1681480"/>
            <a:ext cx="5184775" cy="82486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6" name="Rect 0"/>
          <p:cNvSpPr txBox="1">
            <a:spLocks/>
          </p:cNvSpPr>
          <p:nvPr>
            <p:ph type="obj"/>
          </p:nvPr>
        </p:nvSpPr>
        <p:spPr>
          <a:xfrm rot="0">
            <a:off x="6172200" y="2505075"/>
            <a:ext cx="5184775" cy="3686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8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9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4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5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3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 noChangeAspect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slideLayout" Target="../slideLayouts/slideLayout13.xml"></Relationship><Relationship Id="rId3" Type="http://schemas.openxmlformats.org/officeDocument/2006/relationships/slideLayout" Target="../slideLayouts/slideLayout14.xml"></Relationship><Relationship Id="rId4" Type="http://schemas.openxmlformats.org/officeDocument/2006/relationships/slideLayout" Target="../slideLayouts/slideLayout15.xml"></Relationship><Relationship Id="rId5" Type="http://schemas.openxmlformats.org/officeDocument/2006/relationships/slideLayout" Target="../slideLayouts/slideLayout16.xml"></Relationship><Relationship Id="rId6" Type="http://schemas.openxmlformats.org/officeDocument/2006/relationships/slideLayout" Target="../slideLayouts/slideLayout17.xml"></Relationship><Relationship Id="rId7" Type="http://schemas.openxmlformats.org/officeDocument/2006/relationships/slideLayout" Target="../slideLayouts/slideLayout18.xml"></Relationship><Relationship Id="rId8" Type="http://schemas.openxmlformats.org/officeDocument/2006/relationships/slideLayout" Target="../slideLayouts/slideLayout19.xml"></Relationship><Relationship Id="rId9" Type="http://schemas.openxmlformats.org/officeDocument/2006/relationships/slideLayout" Target="../slideLayouts/slideLayout20.xml"></Relationship><Relationship Id="rId10" Type="http://schemas.openxmlformats.org/officeDocument/2006/relationships/slideLayout" Target="../slideLayouts/slideLayout21.xml"></Relationship><Relationship Id="rId11" Type="http://schemas.openxmlformats.org/officeDocument/2006/relationships/slideLayout" Target="../slideLayouts/slideLayout22.xml"></Relationship><Relationship Id="rId1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3.xml"></Relationship><Relationship Id="rId2" Type="http://schemas.openxmlformats.org/officeDocument/2006/relationships/slideLayout" Target="../slideLayouts/slideLayout24.xml"></Relationship><Relationship Id="rId3" Type="http://schemas.openxmlformats.org/officeDocument/2006/relationships/slideLayout" Target="../slideLayouts/slideLayout25.xml"></Relationship><Relationship Id="rId4" Type="http://schemas.openxmlformats.org/officeDocument/2006/relationships/slideLayout" Target="../slideLayouts/slideLayout26.xml"></Relationship><Relationship Id="rId5" Type="http://schemas.openxmlformats.org/officeDocument/2006/relationships/slideLayout" Target="../slideLayouts/slideLayout27.xml"></Relationship><Relationship Id="rId6" Type="http://schemas.openxmlformats.org/officeDocument/2006/relationships/slideLayout" Target="../slideLayouts/slideLayout28.xml"></Relationship><Relationship Id="rId7" Type="http://schemas.openxmlformats.org/officeDocument/2006/relationships/slideLayout" Target="../slideLayouts/slideLayout29.xml"></Relationship><Relationship Id="rId8" Type="http://schemas.openxmlformats.org/officeDocument/2006/relationships/slideLayout" Target="../slideLayouts/slideLayout30.xml"></Relationship><Relationship Id="rId9" Type="http://schemas.openxmlformats.org/officeDocument/2006/relationships/slideLayout" Target="../slideLayouts/slideLayout31.xml"></Relationship><Relationship Id="rId10" Type="http://schemas.openxmlformats.org/officeDocument/2006/relationships/slideLayout" Target="../slideLayouts/slideLayout32.xml"></Relationship><Relationship Id="rId11" Type="http://schemas.openxmlformats.org/officeDocument/2006/relationships/slideLayout" Target="../slideLayouts/slideLayout33.xml"></Relationship><Relationship Id="rId12" Type="http://schemas.openxmlformats.org/officeDocument/2006/relationships/theme" Target="../theme/theme3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부제목 스타일 편집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부제목 스타일 편집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44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1364223941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161092368467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202912476334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692832526500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3561002569169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408112605724.png"></Relationship><Relationship Id="rId3" Type="http://schemas.openxmlformats.org/officeDocument/2006/relationships/image" Target="../media/fImage225012611478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270142669358.png"></Relationship><Relationship Id="rId3" Type="http://schemas.openxmlformats.org/officeDocument/2006/relationships/image" Target="../media/fImage94172676962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44082724464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2221230"/>
            <a:ext cx="10364470" cy="1210945"/>
          </a:xfrm>
          <a:prstGeom prst="rect"/>
        </p:spPr>
        <p:txBody>
          <a:bodyPr wrap="square" lIns="91440" tIns="45720" rIns="91440" bIns="45720" vert="horz" anchor="b">
            <a:normAutofit fontScale="9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8000" b="1">
                <a:solidFill>
                  <a:srgbClr val="0611F2"/>
                </a:solidFill>
                <a:latin typeface="나눔고딕" charset="0"/>
                <a:ea typeface="나눔고딕" charset="0"/>
              </a:rPr>
              <a:t>KOREA</a:t>
            </a:r>
            <a:r>
              <a:rPr sz="4000">
                <a:solidFill>
                  <a:srgbClr val="000000"/>
                </a:solidFill>
                <a:latin typeface="나눔고딕" charset="0"/>
                <a:ea typeface="나눔고딕" charset="0"/>
              </a:rPr>
              <a:t>&amp;</a:t>
            </a:r>
            <a:r>
              <a:rPr sz="8000" b="1">
                <a:solidFill>
                  <a:srgbClr val="FF0000"/>
                </a:solidFill>
                <a:latin typeface="나눔고딕" charset="0"/>
                <a:ea typeface="나눔고딕" charset="0"/>
              </a:rPr>
              <a:t>ME</a:t>
            </a:r>
            <a:r>
              <a:rPr sz="6000">
                <a:solidFill>
                  <a:srgbClr val="000000"/>
                </a:solidFill>
                <a:latin typeface="나눔고딕" charset="0"/>
                <a:ea typeface="나눔고딕" charset="0"/>
              </a:rPr>
              <a:t/>
            </a:r>
            <a:br>
              <a:rPr sz="6000">
                <a:solidFill>
                  <a:srgbClr val="000000"/>
                </a:solidFill>
                <a:latin typeface="나눔고딕" charset="0"/>
                <a:ea typeface="나눔고딕" charset="0"/>
              </a:rPr>
            </a:br>
            <a:r>
              <a:rPr sz="2000">
                <a:solidFill>
                  <a:srgbClr val="000000"/>
                </a:solidFill>
                <a:latin typeface="나눔고딕" charset="0"/>
                <a:ea typeface="나눔고딕" charset="0"/>
              </a:rPr>
              <a:t>인수인계</a:t>
            </a:r>
            <a:endParaRPr lang="ko-KR" altLang="en-US" sz="20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32890" y="4494530"/>
            <a:ext cx="9145270" cy="5372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00">
                <a:solidFill>
                  <a:srgbClr val="000000"/>
                </a:solidFill>
                <a:latin typeface="Calibri" charset="0"/>
                <a:ea typeface="맑은 고딕" charset="0"/>
              </a:rPr>
              <a:t>#</a:t>
            </a:r>
            <a:r>
              <a:rPr lang="ko-KR" sz="2400">
                <a:solidFill>
                  <a:srgbClr val="000000"/>
                </a:solidFill>
                <a:latin typeface="Calibri" charset="0"/>
                <a:ea typeface="맑은 고딕" charset="0"/>
              </a:rPr>
              <a:t>취업역량 상담 운용가이드</a:t>
            </a:r>
            <a:endParaRPr lang="ko-KR" altLang="en-US" sz="2400">
              <a:solidFill>
                <a:srgbClr val="000000"/>
              </a:solidFill>
              <a:latin typeface="Calibri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학생 등록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내용 개체 틀 6"/>
          <p:cNvSpPr txBox="1">
            <a:spLocks/>
          </p:cNvSpPr>
          <p:nvPr>
            <p:ph type="obj" idx="1"/>
          </p:nvPr>
        </p:nvSpPr>
        <p:spPr>
          <a:xfrm rot="0">
            <a:off x="838200" y="1118235"/>
            <a:ext cx="10516870" cy="1852930"/>
          </a:xfrm>
          <a:prstGeom prst="rect"/>
        </p:spPr>
        <p:txBody>
          <a:bodyPr wrap="square" lIns="91440" tIns="45720" rIns="91440" bIns="45720" vert="horz" anchor="t">
            <a:normAutofit fontScale="925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1. 등록자 email : 대상 계정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2. 토큰 수 : 변경할 토큰 값 (음수 입력 시 차감됨)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3. 학생등록 : 대상 계정의 userType를 4로 변경하여 학생으로 등록한다. (0:마스터 1:일반계정 2:관리자 3: 선생님 4: 학생 )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4. 토큰부여 : 해당 계정에 토큰을 부여함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5. 체크박스 해제시 토큰부여 시에 메일발송은 하지 않음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6. 해당 학생계정의 이력서 보기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7. 해당 학생의 토큰 변경 기록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8. 해당 학생을 다시 일반계정으로 바꿈. 토큰은 그대로 유지되나 해당 리스트에서 보이지 않음. 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Picture " descr="C:/Users/octopus/AppData/Roaming/PolarisOffice/ETemp/13072_12987680/fImage13642239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24380" y="3102610"/>
            <a:ext cx="8125460" cy="34486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3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2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선생님 등록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내용 개체 틀 6"/>
          <p:cNvSpPr txBox="1">
            <a:spLocks/>
          </p:cNvSpPr>
          <p:nvPr>
            <p:ph type="obj" idx="1"/>
          </p:nvPr>
        </p:nvSpPr>
        <p:spPr>
          <a:xfrm rot="0">
            <a:off x="838200" y="1118235"/>
            <a:ext cx="3286125" cy="5382895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1. 선생님으로 등록할 계정 이메일 입력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2. 선생님 성함 입력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3. 간단소개 (실제 사용하지는 않는 중)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4. 카카오톡 채널주소 입력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5. 세부소개 입력 (각 언어 번역본은 DB를 통해 직접 입력해주어야 함)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6. 강사 이미지 사진 업로드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등록시 밑에 userType가 3으로 변경되며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아래 리스트에 나오게 됨. x 표시를 눌러 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다시 일반 계정으로 변경 가능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7" name="그림 8" descr="C:/Users/octopus/AppData/Roaming/PolarisOffice/ETemp/13072_12987680/fImage16109236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828540" y="873760"/>
            <a:ext cx="6967220" cy="58731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3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선생님 대시보드 페이지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838200" y="1118235"/>
            <a:ext cx="10590530" cy="5382895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선생님으로 등록한 계정으로 로그인하면 오른쪽 그림과 같이 헤더 로고 옆에 관리버튼이 생겨 스케쥴 관리 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페이지로 이동 가능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5" name="그림 12" descr="C:/Users/octopus/AppData/Roaming/PolarisOffice/ETemp/13072_12987680/fImage20291247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89200" y="2818130"/>
            <a:ext cx="6830060" cy="25152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3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선생님 대시보드 페이지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253365" y="1118235"/>
            <a:ext cx="4850130" cy="5644515"/>
          </a:xfrm>
          <a:prstGeom prst="rect"/>
        </p:spPr>
        <p:txBody>
          <a:bodyPr wrap="square" lIns="91440" tIns="45720" rIns="91440" bIns="45720" vert="horz" anchor="t">
            <a:normAutofit fontScale="925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1. 상단에 on/off 슬라이드를 켜야 선생님 정보가 유저들에게 공개처리됨. 선생님 등록 후에는 꺼진 상태로 시작하므로 스케줄 조정 후 키면 됨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2. 현재 날짜 기준으로 +30 일까지 스케줄을 조정할 수 있음. 해당 날짜를 클릭하면 수정 가능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3. 날짜를 선택하면 해당 날짜의 예약 가능한 슬롯들이 표시됨. 기본적으로 09:00~ 20:00 로 설정되어 있지만 이 범위를 수정할 수 있음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4. 휴일로 지정하면 해당 날은 빨간색 표시로 바뀌어 예약을 신청할 수 없음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5. 선택한 날짜의 가능한 예약시간이 슬롯형식으로 나타나며 닫혀진 슬롯은 어둡게 표시됨. 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6. 상담 불가능한 시간을 추가하려면 원하는 슬롯들을 선택한 후에 선택슬롯 닫기 버튼을 누르면 해당 슬롯이 어둡게 표시되어 닫히게 됨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7. 선택한 날짜에 닫은 슬롯들은 오른쪽에 표시되며 다시 취소할 수 있음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8. 내게 상담신청한 목록이 최하단에 뜸. 내용 버튼을 누르면 해당 학생의 신청정보를 확인할 수 있음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9. 이력서를 누르면 해당 학생의 이력서정보 확인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10. 조정을 누르면 스케줄 조정이 가능하며 시간 길이의 차이가 있다면 그만큼 토큰이 삭감됨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11.취소를 누르면 해당 상담신청이 취소되고 학생에게 토큰이 환불됨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5" name="그림 14" descr="C:/Users/octopus/AppData/Roaming/PolarisOffice/ETemp/13072_12987680/fImage6928325265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80660" y="1048385"/>
            <a:ext cx="6873240" cy="58108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4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취업상담 신청 페이지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253365" y="1118235"/>
            <a:ext cx="4850130" cy="5644515"/>
          </a:xfrm>
          <a:prstGeom prst="rect"/>
        </p:spPr>
        <p:txBody>
          <a:bodyPr wrap="square" lIns="91440" tIns="45720" rIns="91440" bIns="45720" vert="horz" anchor="t">
            <a:normAutofit fontScale="925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취업역량 강화 페이지는 모든 계정으로 입장 가능하나 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아래 강사목록에서 상담예약 버튼은 userType가 4 즉, 학생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계정으로만 클릭 가능하다. 그 외 계정으로 누를 시에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유학생 대상으로만 운영중인 서비스라고 팝업이 뜬다.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5" name="그림 15" descr="C:/Users/octopus/AppData/Roaming/PolarisOffice/ETemp/13072_12987680/fImage356100256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172075" y="1337310"/>
            <a:ext cx="6772275" cy="52152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456120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4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취업상담 신청 페이지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253365" y="1118235"/>
            <a:ext cx="6195060" cy="5644515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1. 학생은 현재날짜 기준 +2일  +14일까지 예약신청이 가능하다. 예를 들어 오늘이 1월 1일이라면 1월 3일~2월 15일까지 예약이 가능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2. 날짜를 선택하면 선생님이 미리 짜놓은 스케쥴 범위 내에서 예약슬롯 선택이 가능하다. 토큰 수 만큼 슬롯을 선택할 수 있으며 한번의 예약에는 연속된 슬롯만 선택가능하다. 시간단위는 30분이다.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3. 원하는 상담 내용과 상담에 도움이 될 만한 파일을 첨부할 수 있다.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4. 상담제출 시 아래와 같이 선생님과 약속을 잡을 수 있도록 카카오톡 채널을 입장할 수 있는 팝업이 뜬다. 카카오톡 채널운용은 이 시스템을 활용해 적절히 사용하도록 한다.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5" name="그림 16" descr="C:/Users/octopus/AppData/Roaming/PolarisOffice/ETemp/13072_12987680/fImage40811260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79895" y="78740"/>
            <a:ext cx="5173345" cy="6858635"/>
          </a:xfrm>
          <a:prstGeom prst="rect"/>
          <a:noFill/>
        </p:spPr>
      </p:pic>
      <p:pic>
        <p:nvPicPr>
          <p:cNvPr id="6" name="그림 17" descr="C:/Users/octopus/AppData/Roaming/PolarisOffice/ETemp/13072_12987680/fImage22501261147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6175" y="4291965"/>
            <a:ext cx="4763135" cy="2467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456120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4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취업상담 신청 페이지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253365" y="1118235"/>
            <a:ext cx="10554970" cy="222885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학생들은 상담신청 완료후 대시보드 &gt; 취업상담 목록 에서 자신이 신청한 상담목록을 확인할 수 있다.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5" name="그림 18" descr="C:/Users/octopus/AppData/Roaming/PolarisOffice/ETemp/13072_12987680/fImage27014266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31925" y="1557020"/>
            <a:ext cx="8087360" cy="2905760"/>
          </a:xfrm>
          <a:prstGeom prst="rect"/>
          <a:noFill/>
        </p:spPr>
      </p:pic>
      <p:pic>
        <p:nvPicPr>
          <p:cNvPr id="6" name="그림 19" descr="C:/Users/octopus/AppData/Roaming/PolarisOffice/ETemp/13072_12987680/fImage9417267696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144010" y="4634230"/>
            <a:ext cx="3905885" cy="21342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0939145" cy="8083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5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개발관련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내용 개체 틀 11"/>
          <p:cNvSpPr txBox="1">
            <a:spLocks/>
          </p:cNvSpPr>
          <p:nvPr>
            <p:ph type="obj" idx="2"/>
          </p:nvPr>
        </p:nvSpPr>
        <p:spPr>
          <a:xfrm rot="0">
            <a:off x="271145" y="1494155"/>
            <a:ext cx="11507470" cy="3486785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취업역량 강화 프로그램과 관련된 데이터는 아래 그림처럼 4가지이다.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Teacher : 선생님 등록시 생성되는 선생님 기본정보를 담은 데이터 (이름, 소개, 이미지, URL 등)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Teacher_Book : 학생이 상담신청시 상담내용이 기록되는 데이터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Teacher_Date : 선생님의 오늘부터 30일 후 까지의 스케쥴이 저장되는 데이터. 날짜 하루 당 하나의 데이터가 생성됨. 선생님 등록시 30개의 Teacher_Date가 한번에 생성된다. 매일 오전 00:00시에 30일 후의 새로운 날짜로 Teacher_Date가 생성되고 지나간 날짜의 Teacher_Date는 삭제됨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나눔고딕" charset="0"/>
                <a:ea typeface="나눔고딕" charset="0"/>
              </a:rPr>
              <a:t>Teacher_Slot : 학생이 상담을 신청하거나 선생님이 슬롯을 닫을 때 각 닫힌 슬롯들의 데이터이다.</a:t>
            </a:r>
            <a:endParaRPr lang="ko-KR" altLang="en-US" sz="16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7" name="그림 20" descr="C:/Users/octopus/AppData/Roaming/PolarisOffice/ETemp/13072_12987680/fImage440827244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296410" y="5213985"/>
            <a:ext cx="3058160" cy="12198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9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인 길환</dc:creator>
  <cp:lastModifiedBy>인 길환</cp:lastModifiedBy>
  <dc:title>PowerPoint 프레젠테이션</dc:title>
  <cp:version>9.102.73.43337</cp:version>
</cp:coreProperties>
</file>